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3208" y="3246120"/>
            <a:ext cx="2011680" cy="73152"/>
          </a:xfrm>
          <a:prstGeom prst="rect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Yu Gothic UI"/>
              </a:rPr>
              <a:t>あんしんつうがくナビ ／ AIあんぜんせんせい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0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E85D3A"/>
                </a:solidFill>
                <a:latin typeface="Yu Gothic"/>
              </a:rPr>
              <a:t>事故データとAIで、通学路のキケンを親子で見える化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9DAE2"/>
                </a:solidFill>
                <a:latin typeface="Yu Gothic"/>
              </a:rPr>
              <a:t>都知事杯オープンデータ・ハッカソン2026 提出資料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タイトル・キャッチコピー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2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200" b="0" i="0">
                <a:solidFill>
                  <a:srgbClr val="2A2A2A"/>
                </a:solidFill>
                <a:latin typeface="Yu Gothic"/>
              </a:rPr>
              <a:t>プロジェクト名: あんしんつうがくナビ ／ AIあんぜんせんせい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2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200" b="0" i="0">
                <a:solidFill>
                  <a:srgbClr val="2A2A2A"/>
                </a:solidFill>
                <a:latin typeface="Yu Gothic"/>
              </a:rPr>
              <a:t>キャッチコピー案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200" b="0" i="0">
                <a:solidFill>
                  <a:srgbClr val="8A9399"/>
                </a:solidFill>
                <a:latin typeface="Yu Gothic"/>
              </a:rPr>
              <a:t>　　‐ </a:t>
            </a:r>
            <a:r>
              <a:rPr sz="2200" b="0" i="0">
                <a:solidFill>
                  <a:srgbClr val="2A2A2A"/>
                </a:solidFill>
                <a:latin typeface="Yu Gothic"/>
              </a:rPr>
              <a:t>事故データとAIで、通学路のキケンを親子で見える化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200" b="0" i="0">
                <a:solidFill>
                  <a:srgbClr val="8A9399"/>
                </a:solidFill>
                <a:latin typeface="Yu Gothic"/>
              </a:rPr>
              <a:t>　　‐ </a:t>
            </a:r>
            <a:r>
              <a:rPr sz="2200" b="0" i="0">
                <a:solidFill>
                  <a:srgbClr val="2A2A2A"/>
                </a:solidFill>
                <a:latin typeface="Yu Gothic"/>
              </a:rPr>
              <a:t>「なんとなく危ない」を、データで「ここが危ない理由」に変える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課題背景(社会課題の提示)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毎年、通学路での歩行者事故が後を絶たない。保護者や学校は「なんとなく」の感覚でしか通学路の安全性を判断できていない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ハザードマップ的な静的な注意喚起はあるが、自宅〜学校の実際のルート単位でリスクを定量的に示すツールは少ない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警察庁の交通事故統計オープンデータは公開されているが、生データのままでは一般の保護者・子どもが読み解けない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まだ事故が起きていないだけの「隠れた危険地帯」は事故統計だけでは見つけられない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→ オープンデータを「誰でも使える意思決定ツール」に翻訳し、実データが少ない場所の潜在リスクも補う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解決策の概要(1/2)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100" b="1" i="0">
                <a:solidFill>
                  <a:srgbClr val="E85D3A"/>
                </a:solidFill>
                <a:latin typeface="Yu Gothic"/>
              </a:rPr>
              <a:t>① </a:t>
            </a:r>
            <a:r>
              <a:rPr sz="2100" b="0" i="0">
                <a:solidFill>
                  <a:srgbClr val="2A2A2A"/>
                </a:solidFill>
                <a:latin typeface="Yu Gothic"/>
              </a:rPr>
              <a:t>自宅・学校の位置をマップ上でピン留めするだけで、通学路沿いの過去の事故を自動集計・地図表示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100" b="1" i="0">
                <a:solidFill>
                  <a:srgbClr val="E85D3A"/>
                </a:solidFill>
                <a:latin typeface="Yu Gothic"/>
              </a:rPr>
              <a:t>② </a:t>
            </a:r>
            <a:r>
              <a:rPr sz="2100" b="0" i="0">
                <a:solidFill>
                  <a:srgbClr val="2A2A2A"/>
                </a:solidFill>
                <a:latin typeface="Yu Gothic"/>
              </a:rPr>
              <a:t>地理院タイルの地図画像から「事故が起きやすい地形・道路パターン」をCNNが学習し、実データがまだ少ない場所も含めて危険度を推定(件数のPoisson回帰、単なる◯✕分類ではない)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解決策の概要(2/2)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100" b="1" i="0">
                <a:solidFill>
                  <a:srgbClr val="E85D3A"/>
                </a:solidFill>
                <a:latin typeface="Yu Gothic"/>
              </a:rPr>
              <a:t>③ </a:t>
            </a:r>
            <a:r>
              <a:rPr sz="2100" b="0" i="0">
                <a:solidFill>
                  <a:srgbClr val="2A2A2A"/>
                </a:solidFill>
                <a:latin typeface="Yu Gothic"/>
              </a:rPr>
              <a:t>Claude(LLM)が危険度モデル・事故データ・信号や横断歩道などの実地点情報をツールとして呼び出し、保護者と子どもにも分かるやさしい言葉で「どこが危ないか」「なぜ危ないか」「どう気をつければよいか」を対話形式で説明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100" b="1" i="0">
                <a:solidFill>
                  <a:srgbClr val="E85D3A"/>
                </a:solidFill>
                <a:latin typeface="Yu Gothic"/>
              </a:rPr>
              <a:t>④ </a:t>
            </a:r>
            <a:r>
              <a:rPr sz="2100" b="0" i="0">
                <a:solidFill>
                  <a:srgbClr val="2A2A2A"/>
                </a:solidFill>
                <a:latin typeface="Yu Gothic"/>
              </a:rPr>
              <a:t>実際の事故地点・AI予測ヒートマップ・危険な交差点や狭い道路の検出結果を1枚の地図に重ねて可視化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活用するオープンデータ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警察庁 交通事故統計情報オープンデータ: 東京都内の歩行者事故、2018年〜2024年(約7年分)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国土地理院 地理院タイル(std/pale): 危険度モデルの学習用地図画像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国土数値情報(国土交通省): 行政区域(N03、都境界の判定)、鉄道駅(N02、最寄り駅距離の算出)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PLATEAU(3D都市モデル、G空間情報センター): 23区内の交差点の見通しを実際の3D建物データから計算し、AIの説明の根拠として活用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9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900" b="0" i="0">
                <a:solidFill>
                  <a:srgbClr val="2A2A2A"/>
                </a:solidFill>
                <a:latin typeface="Yu Gothic"/>
              </a:rPr>
              <a:t>道路種別・信号機・横断歩道等の位置情報を集計統計として活用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主な機能・デモの流れ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1.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マップを開く(東京都内、事故データがクラスタ表示された状態)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2.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「🏡 おうちをきめる」→「🏫 がっこうをきめる」でピンを設置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3.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ルートが自動描画され、ルート沿いの事故件数が即座に表示される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4.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「🤖 あんしんせんせいにきいてみる」を押す — Claudeが複数ツールを呼び出しやさしい日本語で解説を生成、地図にAI予測ヒートマップ・実際の事故地点・信号のない横断歩道・狭い道路区間を重ねて表示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5.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「実際の事故が多い場所」と「AIが危ないと予測した場所」が一致する/しないケースを見せ、両方の情報を持つ価値を伝える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技術構成(アーキテクチャ)(1/2)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フロントエンド: HTML/CSS/Vanilla JS、Leaflet.js(地図描画・クラスタ・ルーティング)。子ども・保護者向けにひらがな中心のやさしいUI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危険度推定モデル(ml_risk_model/)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0" i="0">
                <a:solidFill>
                  <a:srgbClr val="8A9399"/>
                </a:solidFill>
                <a:latin typeface="Yu Gothic"/>
              </a:rPr>
              <a:t>　　‐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地理院タイル画像(pale版)を500mメッシュで取得し、MobileNetV2ベースの転移学習でPoisson回帰ヘッド(件数予測)を構築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0" i="0">
                <a:solidFill>
                  <a:srgbClr val="8A9399"/>
                </a:solidFill>
                <a:latin typeface="Yu Gothic"/>
              </a:rPr>
              <a:t>　　‐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空間ブロック分割でtrain/evalを分離(隣接セルの情報漏洩を防止)、3シードアンサンブルで安定化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0" i="0">
                <a:solidFill>
                  <a:srgbClr val="8A9399"/>
                </a:solidFill>
                <a:latin typeface="Yu Gothic"/>
              </a:rPr>
              <a:t>　　‐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車道延長(道路網の集計統計)を曝露量(オフセット)として組み込み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技術構成(アーキテクチャ)(2/2)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AI対話バックエンド: Claude API(Tool Use)が「危険度スコア取得」「近隣事故データ取得」「地点の信号・横断歩道・視界情報取得」をツールとして呼び出し、実データに基づいた説明文を生成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インフラ: Cloudflare Workers + Containers(本ハッカソンのCloudflare特典を活用)。フロントは静的配信、推論・LLM連携部分はコンテナ上で実行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データパイプライン: 警察庁CSV→GeoJSON変換、地理院タイル取得→CNN学習データ化、道路網データ→集計統計への変換、PLATEAU→視界特徴計算まで、全工程を自前スクリプトで構築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800" b="0" i="0">
                <a:solidFill>
                  <a:srgbClr val="2A2A2A"/>
                </a:solidFill>
                <a:latin typeface="Yu Gothic"/>
              </a:rPr>
              <a:t>プライバシー: 自宅・学校の位置情報はリクエストのたびにその場で処理するのみで、サーバー側のデータベースやログに保存しない設計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独自性・新規性(差別化ポイント)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(1)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既製のAI APIにリスク判定を丸投げするのではなく、転移学習をベースに自前でデータ収集・特徴量設計・ファインチューニング・評価プロトコルまで一気通貫で構築(単にAI APIを呼び出すだけのアプリではない)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(2)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単なる事故マップではなく、AIによる危険度“予測”と実データを重ねて比較できる。まだ事故が記録されていない場所の潜在リスクも地図画像パターンの学習によって補完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(3)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判断根拠を「事実」で示す設計。信号の有無・横断歩道の種類・道路の見通し(PLATEAU実測値)など、誰でも現地で確認できる実データに基づいて生成する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(4)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評価に学術的な誠実さ: 事前登録方式・複数シードでの再現性確認・bootstrap法による統計的検証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学習データの作成規模(1/2)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事故データ: 警察庁オープンデータから東京都内の歩行者事故を抽出、2018年〜2024年の約7年分・29,284件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学習・評価用地図画像: 500mメッシュで空間ブロック分割(隣接セルの情報漏洩を防ぐ設計)し、学習3,803セル・評価896セルを地理院タイルから1枚ずつ生成。学習セットはデータ拡張(回転・反転・明暗ジッター)で15,212枚まで拡張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学習データの作成規模(2/2)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位置情報の整備: 国土数値情報から都内駅データ・行政区域データを整備し、最寄り駅距離の算出・都境界の判定に利用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見通し(視界)データ: PLATEAU(3D都市モデル)から23区内1,917セル分の交差点見通しを実際の建物形状データから算出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地図画像の取得はレート制限(0.5秒/枚)を守った逐次リクエストで行っており、学習用データセット一式の生成だけで数時間規模の作業時間を要した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開発における試行錯誤(1/2)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目視評価と実際の学習結果が逆転: 人間の目に情報量が多く見える地図スタイルの方が、CNNの学習には必ずしも有利ではないと実験で判明。複数の候補スタイルで実際に学習・比較し、精度だけでなく複数シード間のばらつき(安定性)も根拠に最終採用スタイルを選び直し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見出し数値の水増しに自ら気づき下方修正: 道路がほとんどない場所を含めた全域評価の数値(残差Spearman0.439)は底上げされていたと判明。都市部に限定して再評価し、より正直な数字(0.28、ペアワイズ一致率71%)を公式の見出し数値として採用した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開発における試行錯誤(2/2)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特徴量計算バグの自己発見: 評価用ベースラインの入力(建造物密度の代理指標)が、緑地・水域以外を一律「建造物」に誤分類するバグを目視確認で発見。修正後に評価を再実行し、影響範囲を数値で確認してから最終数値を確定させた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判定基準の後出し変更をしない運用: 「AIモデルが単純なベースラインを上回るか」の判定基準は結果を見る前に固定し、途中で緩めたり変えたりしない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1700" b="0" i="0">
                <a:solidFill>
                  <a:srgbClr val="2A2A2A"/>
                </a:solidFill>
                <a:latin typeface="Yu Gothic"/>
              </a:rPr>
              <a:t>一度出した数値を鵜呑みにせず、追加の目視確認・独立な角度からの再検証を重ねたプロセスの再現性・誠実さも本提案の強み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今後の展望・拡張性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東京都オープンデータ(学校位置・道路交通センサス等)を組み合わせた特徴量追加によるさらなる精度向上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自治体・学校向けの集計レポート機能(通学路点検・PTA活動での活用)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地域住民からの「ヒヤリハット」投稿機能によるデータ拡充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0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000" b="0" i="0">
                <a:solidFill>
                  <a:srgbClr val="2A2A2A"/>
                </a:solidFill>
                <a:latin typeface="Yu Gothic"/>
              </a:rPr>
              <a:t>23区外(多摩地域)への視界特徴(PLATEAU)適用範囲拡大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182880"/>
            <a:ext cx="594360" cy="594360"/>
          </a:xfrm>
          <a:prstGeom prst="ellipse">
            <a:avLst/>
          </a:prstGeom>
          <a:solidFill>
            <a:srgbClr val="E8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Yu Gothic UI"/>
              </a:rPr>
              <a:t>チーム体制・役割分担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2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200" b="0" i="0">
                <a:solidFill>
                  <a:srgbClr val="2A2A2A"/>
                </a:solidFill>
                <a:latin typeface="Yu Gothic"/>
              </a:rPr>
              <a:t>個人参加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2200" b="1" i="0">
                <a:solidFill>
                  <a:srgbClr val="E85D3A"/>
                </a:solidFill>
                <a:latin typeface="Yu Gothic"/>
              </a:rPr>
              <a:t>● </a:t>
            </a:r>
            <a:r>
              <a:rPr sz="2200" b="0" i="0">
                <a:solidFill>
                  <a:srgbClr val="2A2A2A"/>
                </a:solidFill>
                <a:latin typeface="Yu Gothic"/>
              </a:rPr>
              <a:t>企画・データ収集/前処理・機械学習モデルの設計と学習・評価設計・バックエンド・フロントエンド・インフラ(Cloudflare)デプロイまで、一人で一気通貫で開発した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E85D3A"/>
                </a:solidFill>
                <a:latin typeface="Yu Gothic UI"/>
              </a:rPr>
              <a:t>12. まとめ(一言で)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784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 i="0">
                <a:solidFill>
                  <a:srgbClr val="FFFFFF"/>
                </a:solidFill>
                <a:latin typeface="Yu Gothic UI"/>
              </a:rPr>
              <a:t>「オープンデータ×AIをもとに、データ作成、追加学習を行い、“なんとなく危ない”を“具体的にここが危ない、こう気をつけよう”に変える、親子のための通学路安全サービス」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399"/>
                </a:solidFill>
                <a:latin typeface="Yu Gothic"/>
              </a:rPr>
              <a:t>あんしんつうがくナビ ／ AIあんぜんせんせい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399"/>
                </a:solidFill>
                <a:latin typeface="Yu Gothic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