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93208" y="3246120"/>
            <a:ext cx="2011680" cy="73152"/>
          </a:xfrm>
          <a:prstGeom prst="rect">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360152" cy="1280160"/>
          </a:xfrm>
          <a:prstGeom prst="rect">
            <a:avLst/>
          </a:prstGeom>
          <a:noFill/>
        </p:spPr>
        <p:txBody>
          <a:bodyPr wrap="square" anchor="ctr" lIns="0" rIns="0" tIns="0" bIns="0">
            <a:spAutoFit/>
          </a:bodyPr>
          <a:lstStyle/>
          <a:p>
            <a:pPr algn="ctr"/>
            <a:r>
              <a:rPr sz="4000" b="1" i="0">
                <a:solidFill>
                  <a:srgbClr val="FFFFFF"/>
                </a:solidFill>
                <a:latin typeface="Yu Gothic UI"/>
              </a:rPr>
              <a:t>あんしんつうがくナビ ／ AIあんぜんせんせい</a:t>
            </a:r>
          </a:p>
        </p:txBody>
      </p:sp>
      <p:sp>
        <p:nvSpPr>
          <p:cNvPr id="5" name="TextBox 4"/>
          <p:cNvSpPr txBox="1"/>
          <p:nvPr/>
        </p:nvSpPr>
        <p:spPr>
          <a:xfrm>
            <a:off x="914400" y="3520440"/>
            <a:ext cx="10360152" cy="640080"/>
          </a:xfrm>
          <a:prstGeom prst="rect">
            <a:avLst/>
          </a:prstGeom>
          <a:noFill/>
        </p:spPr>
        <p:txBody>
          <a:bodyPr wrap="square" anchor="ctr" lIns="0" rIns="0" tIns="0" bIns="0">
            <a:spAutoFit/>
          </a:bodyPr>
          <a:lstStyle/>
          <a:p>
            <a:pPr algn="ctr"/>
            <a:r>
              <a:rPr sz="2000" b="0" i="1">
                <a:solidFill>
                  <a:srgbClr val="E85D3A"/>
                </a:solidFill>
                <a:latin typeface="Yu Gothic"/>
              </a:rPr>
              <a:t>事故データとAIで、通学路のキケンを親子で見える化</a:t>
            </a:r>
          </a:p>
        </p:txBody>
      </p:sp>
      <p:sp>
        <p:nvSpPr>
          <p:cNvPr id="6" name="TextBox 5"/>
          <p:cNvSpPr txBox="1"/>
          <p:nvPr/>
        </p:nvSpPr>
        <p:spPr>
          <a:xfrm>
            <a:off x="914400" y="5852160"/>
            <a:ext cx="10360152" cy="548640"/>
          </a:xfrm>
          <a:prstGeom prst="rect">
            <a:avLst/>
          </a:prstGeom>
          <a:noFill/>
        </p:spPr>
        <p:txBody>
          <a:bodyPr wrap="square" anchor="ctr" lIns="0" rIns="0" tIns="0" bIns="0">
            <a:spAutoFit/>
          </a:bodyPr>
          <a:lstStyle/>
          <a:p>
            <a:pPr algn="ctr"/>
            <a:r>
              <a:rPr sz="1400" b="0" i="0">
                <a:solidFill>
                  <a:srgbClr val="C9DAE2"/>
                </a:solidFill>
                <a:latin typeface="Yu Gothic"/>
              </a:rPr>
              <a:t>都知事杯オープンデータ・ハッカソン2026 提出資料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1</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タイトル・キャッチコピー</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200" b="1" i="0">
                <a:solidFill>
                  <a:srgbClr val="E85D3A"/>
                </a:solidFill>
                <a:latin typeface="Yu Gothic"/>
              </a:rPr>
              <a:t>● </a:t>
            </a:r>
            <a:r>
              <a:rPr sz="2200" b="0" i="0">
                <a:solidFill>
                  <a:srgbClr val="2A2A2A"/>
                </a:solidFill>
                <a:latin typeface="Yu Gothic"/>
              </a:rPr>
              <a:t>プロジェクト名: あんしんつうがくナビ ／ AIあんぜんせんせい</a:t>
            </a:r>
          </a:p>
          <a:p>
            <a:pPr>
              <a:lnSpc>
                <a:spcPct val="118000"/>
              </a:lnSpc>
              <a:spcAft>
                <a:spcPts val="1000"/>
              </a:spcAft>
            </a:pPr>
            <a:r>
              <a:rPr sz="2200" b="1" i="0">
                <a:solidFill>
                  <a:srgbClr val="E85D3A"/>
                </a:solidFill>
                <a:latin typeface="Yu Gothic"/>
              </a:rPr>
              <a:t>● </a:t>
            </a:r>
            <a:r>
              <a:rPr sz="2200" b="0" i="0">
                <a:solidFill>
                  <a:srgbClr val="2A2A2A"/>
                </a:solidFill>
                <a:latin typeface="Yu Gothic"/>
              </a:rPr>
              <a:t>キャッチコピー案</a:t>
            </a:r>
          </a:p>
          <a:p>
            <a:pPr>
              <a:lnSpc>
                <a:spcPct val="118000"/>
              </a:lnSpc>
              <a:spcAft>
                <a:spcPts val="1000"/>
              </a:spcAft>
            </a:pPr>
            <a:r>
              <a:rPr sz="2200" b="0" i="0">
                <a:solidFill>
                  <a:srgbClr val="8A9399"/>
                </a:solidFill>
                <a:latin typeface="Yu Gothic"/>
              </a:rPr>
              <a:t>　　‐ </a:t>
            </a:r>
            <a:r>
              <a:rPr sz="2200" b="0" i="0">
                <a:solidFill>
                  <a:srgbClr val="2A2A2A"/>
                </a:solidFill>
                <a:latin typeface="Yu Gothic"/>
              </a:rPr>
              <a:t>事故データとAIで、通学路のキケンを親子で見える化</a:t>
            </a:r>
          </a:p>
          <a:p>
            <a:pPr>
              <a:lnSpc>
                <a:spcPct val="118000"/>
              </a:lnSpc>
              <a:spcAft>
                <a:spcPts val="1000"/>
              </a:spcAft>
            </a:pPr>
            <a:r>
              <a:rPr sz="2200" b="0" i="0">
                <a:solidFill>
                  <a:srgbClr val="8A9399"/>
                </a:solidFill>
                <a:latin typeface="Yu Gothic"/>
              </a:rPr>
              <a:t>　　‐ </a:t>
            </a:r>
            <a:r>
              <a:rPr sz="2200" b="0" i="0">
                <a:solidFill>
                  <a:srgbClr val="2A2A2A"/>
                </a:solidFill>
                <a:latin typeface="Yu Gothic"/>
              </a:rPr>
              <a:t>「なんとなく危ない」を、データで「ここが危ない理由」に変える</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2</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課題背景(社会課題の提示)</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900" b="1" i="0">
                <a:solidFill>
                  <a:srgbClr val="E85D3A"/>
                </a:solidFill>
                <a:latin typeface="Yu Gothic"/>
              </a:rPr>
              <a:t>● </a:t>
            </a:r>
            <a:r>
              <a:rPr sz="1900" b="0" i="0">
                <a:solidFill>
                  <a:srgbClr val="2A2A2A"/>
                </a:solidFill>
                <a:latin typeface="Yu Gothic"/>
              </a:rPr>
              <a:t>毎年、通学路での歩行者事故が後を絶たない。保護者や学校は「なんとなく」の感覚でしか通学路の安全性を判断できていない</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ハザードマップ的な静的な注意喚起はあるが、自宅〜学校の実際のルート単位でリスクを定量的に示すツールは少ない</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警察庁の交通事故統計オープンデータは公開されているが、生データのままでは一般の保護者・子どもが読み解けない</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まだ事故が起きていないだけの「隠れた危険地帯」は事故統計だけでは見つけられない</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新宿区だけでも通学路交通安全プログラムの総点検で毎年数十箇所の対策が必要と判明しており(令和5年度41箇所)、行政の定期点検だけでは網羅しきれない</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 オープンデータを「誰でも使える意思決定ツール」に翻訳し、実データが少ない場所の潜在リスクも補う</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3</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解決策の概要(1/2)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100" b="1" i="0">
                <a:solidFill>
                  <a:srgbClr val="E85D3A"/>
                </a:solidFill>
                <a:latin typeface="Yu Gothic"/>
              </a:rPr>
              <a:t>① </a:t>
            </a:r>
            <a:r>
              <a:rPr sz="2100" b="0" i="0">
                <a:solidFill>
                  <a:srgbClr val="2A2A2A"/>
                </a:solidFill>
                <a:latin typeface="Yu Gothic"/>
              </a:rPr>
              <a:t>自宅・学校の位置をマップ上でピン留めするだけで、通学路沿いの過去の事故を自動集計・地図表示</a:t>
            </a:r>
          </a:p>
          <a:p>
            <a:pPr>
              <a:lnSpc>
                <a:spcPct val="118000"/>
              </a:lnSpc>
              <a:spcAft>
                <a:spcPts val="1000"/>
              </a:spcAft>
            </a:pPr>
            <a:r>
              <a:rPr sz="2100" b="1" i="0">
                <a:solidFill>
                  <a:srgbClr val="E85D3A"/>
                </a:solidFill>
                <a:latin typeface="Yu Gothic"/>
              </a:rPr>
              <a:t>② </a:t>
            </a:r>
            <a:r>
              <a:rPr sz="2100" b="0" i="0">
                <a:solidFill>
                  <a:srgbClr val="2A2A2A"/>
                </a:solidFill>
                <a:latin typeface="Yu Gothic"/>
              </a:rPr>
              <a:t>地理院タイルの地図画像から「事故が起きやすい地形・道路パターン」をCNNが学習し、実データがまだ少ない場所も含めて危険度を推定(件数のPoisson回帰、単なる◯✕分類ではない)</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3</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解決策の概要(2/2)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100" b="1" i="0">
                <a:solidFill>
                  <a:srgbClr val="E85D3A"/>
                </a:solidFill>
                <a:latin typeface="Yu Gothic"/>
              </a:rPr>
              <a:t>③ </a:t>
            </a:r>
            <a:r>
              <a:rPr sz="2100" b="0" i="0">
                <a:solidFill>
                  <a:srgbClr val="2A2A2A"/>
                </a:solidFill>
                <a:latin typeface="Yu Gothic"/>
              </a:rPr>
              <a:t>Claude(LLM)が危険度モデル・事故データ・信号や横断歩道などの実地点情報をツールとして呼び出し、保護者と子どもにも分かるやさしい言葉で「どこが危ないか」「なぜ危ないか」「どう気をつければよいか」を対話形式で説明</a:t>
            </a:r>
          </a:p>
          <a:p>
            <a:pPr>
              <a:lnSpc>
                <a:spcPct val="118000"/>
              </a:lnSpc>
              <a:spcAft>
                <a:spcPts val="1000"/>
              </a:spcAft>
            </a:pPr>
            <a:r>
              <a:rPr sz="2100" b="1" i="0">
                <a:solidFill>
                  <a:srgbClr val="E85D3A"/>
                </a:solidFill>
                <a:latin typeface="Yu Gothic"/>
              </a:rPr>
              <a:t>④ </a:t>
            </a:r>
            <a:r>
              <a:rPr sz="2100" b="0" i="0">
                <a:solidFill>
                  <a:srgbClr val="2A2A2A"/>
                </a:solidFill>
                <a:latin typeface="Yu Gothic"/>
              </a:rPr>
              <a:t>実際の事故地点・AI予測ヒートマップ・危険な交差点や狭い道路の検出結果を1枚の地図に重ねて可視化</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4</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活用するオープンデータ</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900" b="1" i="0">
                <a:solidFill>
                  <a:srgbClr val="E85D3A"/>
                </a:solidFill>
                <a:latin typeface="Yu Gothic"/>
              </a:rPr>
              <a:t>● </a:t>
            </a:r>
            <a:r>
              <a:rPr sz="1900" b="0" i="0">
                <a:solidFill>
                  <a:srgbClr val="2A2A2A"/>
                </a:solidFill>
                <a:latin typeface="Yu Gothic"/>
              </a:rPr>
              <a:t>都内15区教育機関一覧(東京都オープンデータカタログサイト): 区立小中学校773校の位置を地図上に常時表示</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警察庁 交通事故統計情報オープンデータ: 東京都内の歩行者事故、2019年〜2024年(約6年分)</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国土地理院 地理院タイル(std/pale): 危険度モデルの学習用地図画像</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国土数値情報(国土交通省): 行政区域(N03、都境界の判定)、鉄道駅(N02、最寄り駅距離の算出)</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PLATEAU(3D都市モデル、G空間情報センター): 23区内の交差点の見通しを実際の3D建物データから計算し、AIの説明の根拠として活用</a:t>
            </a:r>
          </a:p>
          <a:p>
            <a:pPr>
              <a:lnSpc>
                <a:spcPct val="118000"/>
              </a:lnSpc>
              <a:spcAft>
                <a:spcPts val="1000"/>
              </a:spcAft>
            </a:pPr>
            <a:r>
              <a:rPr sz="1900" b="1" i="0">
                <a:solidFill>
                  <a:srgbClr val="E85D3A"/>
                </a:solidFill>
                <a:latin typeface="Yu Gothic"/>
              </a:rPr>
              <a:t>● </a:t>
            </a:r>
            <a:r>
              <a:rPr sz="1900" b="0" i="0">
                <a:solidFill>
                  <a:srgbClr val="2A2A2A"/>
                </a:solidFill>
                <a:latin typeface="Yu Gothic"/>
              </a:rPr>
              <a:t>道路種別・信号機・横断歩道等の位置情報を集計統計として活用</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5</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主な機能・デモの流れ</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800" b="1" i="0">
                <a:solidFill>
                  <a:srgbClr val="E85D3A"/>
                </a:solidFill>
                <a:latin typeface="Yu Gothic"/>
              </a:rPr>
              <a:t>1. </a:t>
            </a:r>
            <a:r>
              <a:rPr sz="1800" b="0" i="0">
                <a:solidFill>
                  <a:srgbClr val="2A2A2A"/>
                </a:solidFill>
                <a:latin typeface="Yu Gothic"/>
              </a:rPr>
              <a:t>マップを開く(東京都内、事故データがクラスタ表示された状態)</a:t>
            </a:r>
          </a:p>
          <a:p>
            <a:pPr>
              <a:lnSpc>
                <a:spcPct val="118000"/>
              </a:lnSpc>
              <a:spcAft>
                <a:spcPts val="1000"/>
              </a:spcAft>
            </a:pPr>
            <a:r>
              <a:rPr sz="1800" b="1" i="0">
                <a:solidFill>
                  <a:srgbClr val="E85D3A"/>
                </a:solidFill>
                <a:latin typeface="Yu Gothic"/>
              </a:rPr>
              <a:t>2. </a:t>
            </a:r>
            <a:r>
              <a:rPr sz="1800" b="0" i="0">
                <a:solidFill>
                  <a:srgbClr val="2A2A2A"/>
                </a:solidFill>
                <a:latin typeface="Yu Gothic"/>
              </a:rPr>
              <a:t>「🏡 おうちをきめる」→「🏫 がっこうをきめる」でピンを設置</a:t>
            </a:r>
          </a:p>
          <a:p>
            <a:pPr>
              <a:lnSpc>
                <a:spcPct val="118000"/>
              </a:lnSpc>
              <a:spcAft>
                <a:spcPts val="1000"/>
              </a:spcAft>
            </a:pPr>
            <a:r>
              <a:rPr sz="1800" b="1" i="0">
                <a:solidFill>
                  <a:srgbClr val="E85D3A"/>
                </a:solidFill>
                <a:latin typeface="Yu Gothic"/>
              </a:rPr>
              <a:t>3. </a:t>
            </a:r>
            <a:r>
              <a:rPr sz="1800" b="0" i="0">
                <a:solidFill>
                  <a:srgbClr val="2A2A2A"/>
                </a:solidFill>
                <a:latin typeface="Yu Gothic"/>
              </a:rPr>
              <a:t>ルートが自動描画され、ルート沿いの事故件数が即座に表示される</a:t>
            </a:r>
          </a:p>
          <a:p>
            <a:pPr>
              <a:lnSpc>
                <a:spcPct val="118000"/>
              </a:lnSpc>
              <a:spcAft>
                <a:spcPts val="1000"/>
              </a:spcAft>
            </a:pPr>
            <a:r>
              <a:rPr sz="1800" b="1" i="0">
                <a:solidFill>
                  <a:srgbClr val="E85D3A"/>
                </a:solidFill>
                <a:latin typeface="Yu Gothic"/>
              </a:rPr>
              <a:t>4. </a:t>
            </a:r>
            <a:r>
              <a:rPr sz="1800" b="0" i="0">
                <a:solidFill>
                  <a:srgbClr val="2A2A2A"/>
                </a:solidFill>
                <a:latin typeface="Yu Gothic"/>
              </a:rPr>
              <a:t>「🤖 あんしんせんせいにきいてみる」を押す — Claudeが複数ツールを呼び出しやさしい日本語で解説を生成、地図にAI予測ヒートマップ・実際の事故地点・信号のない横断歩道・狭い道路区間を重ねて表示</a:t>
            </a:r>
          </a:p>
          <a:p>
            <a:pPr>
              <a:lnSpc>
                <a:spcPct val="118000"/>
              </a:lnSpc>
              <a:spcAft>
                <a:spcPts val="1000"/>
              </a:spcAft>
            </a:pPr>
            <a:r>
              <a:rPr sz="1800" b="1" i="0">
                <a:solidFill>
                  <a:srgbClr val="E85D3A"/>
                </a:solidFill>
                <a:latin typeface="Yu Gothic"/>
              </a:rPr>
              <a:t>5. </a:t>
            </a:r>
            <a:r>
              <a:rPr sz="1800" b="0" i="0">
                <a:solidFill>
                  <a:srgbClr val="2A2A2A"/>
                </a:solidFill>
                <a:latin typeface="Yu Gothic"/>
              </a:rPr>
              <a:t>「実際の事故が多い場所」と「AIが危ないと予測した場所」が一致する/しないケースを見せ、両方の情報を持つ価値を伝える</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6</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技術構成(アーキテクチャ)(1/2)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800" b="1" i="0">
                <a:solidFill>
                  <a:srgbClr val="E85D3A"/>
                </a:solidFill>
                <a:latin typeface="Yu Gothic"/>
              </a:rPr>
              <a:t>● </a:t>
            </a:r>
            <a:r>
              <a:rPr sz="1800" b="0" i="0">
                <a:solidFill>
                  <a:srgbClr val="2A2A2A"/>
                </a:solidFill>
                <a:latin typeface="Yu Gothic"/>
              </a:rPr>
              <a:t>フロントエンド: HTML/CSS/Vanilla JS、Leaflet.js(地図描画・クラスタ・ルーティング)。子ども・保護者向けにひらがな中心のやさしいUI</a:t>
            </a:r>
          </a:p>
          <a:p>
            <a:pPr>
              <a:lnSpc>
                <a:spcPct val="118000"/>
              </a:lnSpc>
              <a:spcAft>
                <a:spcPts val="1000"/>
              </a:spcAft>
            </a:pPr>
            <a:r>
              <a:rPr sz="1800" b="1" i="0">
                <a:solidFill>
                  <a:srgbClr val="E85D3A"/>
                </a:solidFill>
                <a:latin typeface="Yu Gothic"/>
              </a:rPr>
              <a:t>● </a:t>
            </a:r>
            <a:r>
              <a:rPr sz="1800" b="0" i="0">
                <a:solidFill>
                  <a:srgbClr val="2A2A2A"/>
                </a:solidFill>
                <a:latin typeface="Yu Gothic"/>
              </a:rPr>
              <a:t>危険度推定モデル(ml_risk_model/)</a:t>
            </a:r>
          </a:p>
          <a:p>
            <a:pPr>
              <a:lnSpc>
                <a:spcPct val="118000"/>
              </a:lnSpc>
              <a:spcAft>
                <a:spcPts val="1000"/>
              </a:spcAft>
            </a:pPr>
            <a:r>
              <a:rPr sz="1800" b="0" i="0">
                <a:solidFill>
                  <a:srgbClr val="8A9399"/>
                </a:solidFill>
                <a:latin typeface="Yu Gothic"/>
              </a:rPr>
              <a:t>　　‐ </a:t>
            </a:r>
            <a:r>
              <a:rPr sz="1800" b="0" i="0">
                <a:solidFill>
                  <a:srgbClr val="2A2A2A"/>
                </a:solidFill>
                <a:latin typeface="Yu Gothic"/>
              </a:rPr>
              <a:t>地理院タイル画像(pale版)を500mメッシュで取得し、MobileNetV2ベースの転移学習でPoisson回帰ヘッド(件数予測)を構築</a:t>
            </a:r>
          </a:p>
          <a:p>
            <a:pPr>
              <a:lnSpc>
                <a:spcPct val="118000"/>
              </a:lnSpc>
              <a:spcAft>
                <a:spcPts val="1000"/>
              </a:spcAft>
            </a:pPr>
            <a:r>
              <a:rPr sz="1800" b="0" i="0">
                <a:solidFill>
                  <a:srgbClr val="8A9399"/>
                </a:solidFill>
                <a:latin typeface="Yu Gothic"/>
              </a:rPr>
              <a:t>　　‐ </a:t>
            </a:r>
            <a:r>
              <a:rPr sz="1800" b="0" i="0">
                <a:solidFill>
                  <a:srgbClr val="2A2A2A"/>
                </a:solidFill>
                <a:latin typeface="Yu Gothic"/>
              </a:rPr>
              <a:t>空間ブロック分割でtrain/evalを分離(隣接セルの情報漏洩を防止)、3シードアンサンブルで安定化</a:t>
            </a:r>
          </a:p>
          <a:p>
            <a:pPr>
              <a:lnSpc>
                <a:spcPct val="118000"/>
              </a:lnSpc>
              <a:spcAft>
                <a:spcPts val="1000"/>
              </a:spcAft>
            </a:pPr>
            <a:r>
              <a:rPr sz="1800" b="0" i="0">
                <a:solidFill>
                  <a:srgbClr val="8A9399"/>
                </a:solidFill>
                <a:latin typeface="Yu Gothic"/>
              </a:rPr>
              <a:t>　　‐ </a:t>
            </a:r>
            <a:r>
              <a:rPr sz="1800" b="0" i="0">
                <a:solidFill>
                  <a:srgbClr val="2A2A2A"/>
                </a:solidFill>
                <a:latin typeface="Yu Gothic"/>
              </a:rPr>
              <a:t>車道延長(道路網の集計統計)を曝露量(オフセット)として組み込み</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6</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技術構成(アーキテクチャ)(2/2)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800" b="1" i="0">
                <a:solidFill>
                  <a:srgbClr val="E85D3A"/>
                </a:solidFill>
                <a:latin typeface="Yu Gothic"/>
              </a:rPr>
              <a:t>● </a:t>
            </a:r>
            <a:r>
              <a:rPr sz="1800" b="0" i="0">
                <a:solidFill>
                  <a:srgbClr val="2A2A2A"/>
                </a:solidFill>
                <a:latin typeface="Yu Gothic"/>
              </a:rPr>
              <a:t>AI対話バックエンド: Claude API(Tool Use)が「危険度スコア取得」「近隣事故データ取得」「地点の信号・横断歩道・視界情報取得」をツールとして呼び出し、実データに基づいた説明文を生成</a:t>
            </a:r>
          </a:p>
          <a:p>
            <a:pPr>
              <a:lnSpc>
                <a:spcPct val="118000"/>
              </a:lnSpc>
              <a:spcAft>
                <a:spcPts val="1000"/>
              </a:spcAft>
            </a:pPr>
            <a:r>
              <a:rPr sz="1800" b="1" i="0">
                <a:solidFill>
                  <a:srgbClr val="E85D3A"/>
                </a:solidFill>
                <a:latin typeface="Yu Gothic"/>
              </a:rPr>
              <a:t>● </a:t>
            </a:r>
            <a:r>
              <a:rPr sz="1800" b="0" i="0">
                <a:solidFill>
                  <a:srgbClr val="2A2A2A"/>
                </a:solidFill>
                <a:latin typeface="Yu Gothic"/>
              </a:rPr>
              <a:t>インフラ: Cloudflare Workers + Containers(本ハッカソンのCloudflare特典を活用)。フロントは静的配信、推論・LLM連携部分はコンテナ上で実行</a:t>
            </a:r>
          </a:p>
          <a:p>
            <a:pPr>
              <a:lnSpc>
                <a:spcPct val="118000"/>
              </a:lnSpc>
              <a:spcAft>
                <a:spcPts val="1000"/>
              </a:spcAft>
            </a:pPr>
            <a:r>
              <a:rPr sz="1800" b="1" i="0">
                <a:solidFill>
                  <a:srgbClr val="E85D3A"/>
                </a:solidFill>
                <a:latin typeface="Yu Gothic"/>
              </a:rPr>
              <a:t>● </a:t>
            </a:r>
            <a:r>
              <a:rPr sz="1800" b="0" i="0">
                <a:solidFill>
                  <a:srgbClr val="2A2A2A"/>
                </a:solidFill>
                <a:latin typeface="Yu Gothic"/>
              </a:rPr>
              <a:t>データパイプライン: 警察庁CSV→GeoJSON変換、地理院タイル取得→CNN学習データ化、道路網データ→集計統計への変換、PLATEAU→視界特徴計算まで、全工程を自前スクリプトで構築</a:t>
            </a:r>
          </a:p>
          <a:p>
            <a:pPr>
              <a:lnSpc>
                <a:spcPct val="118000"/>
              </a:lnSpc>
              <a:spcAft>
                <a:spcPts val="1000"/>
              </a:spcAft>
            </a:pPr>
            <a:r>
              <a:rPr sz="1800" b="1" i="0">
                <a:solidFill>
                  <a:srgbClr val="E85D3A"/>
                </a:solidFill>
                <a:latin typeface="Yu Gothic"/>
              </a:rPr>
              <a:t>● </a:t>
            </a:r>
            <a:r>
              <a:rPr sz="1800" b="0" i="0">
                <a:solidFill>
                  <a:srgbClr val="2A2A2A"/>
                </a:solidFill>
                <a:latin typeface="Yu Gothic"/>
              </a:rPr>
              <a:t>プライバシー: 自宅・学校の位置情報はリクエストのたびにその場で処理するのみで、サーバー側のデータベースやログに保存しない設計</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7</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独自性・新規性(差別化ポイント)</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700" b="1" i="0">
                <a:solidFill>
                  <a:srgbClr val="E85D3A"/>
                </a:solidFill>
                <a:latin typeface="Yu Gothic"/>
              </a:rPr>
              <a:t>(1) </a:t>
            </a:r>
            <a:r>
              <a:rPr sz="1700" b="0" i="0">
                <a:solidFill>
                  <a:srgbClr val="2A2A2A"/>
                </a:solidFill>
                <a:latin typeface="Yu Gothic"/>
              </a:rPr>
              <a:t>既製のAI APIにリスク判定を丸投げするのではなく、転移学習をベースに自前でデータ収集・特徴量設計・ファインチューニング・評価プロトコルまで一気通貫で構築(単にAI APIを呼び出すだけのアプリではない)</a:t>
            </a:r>
          </a:p>
          <a:p>
            <a:pPr>
              <a:lnSpc>
                <a:spcPct val="118000"/>
              </a:lnSpc>
              <a:spcAft>
                <a:spcPts val="1000"/>
              </a:spcAft>
            </a:pPr>
            <a:r>
              <a:rPr sz="1700" b="1" i="0">
                <a:solidFill>
                  <a:srgbClr val="E85D3A"/>
                </a:solidFill>
                <a:latin typeface="Yu Gothic"/>
              </a:rPr>
              <a:t>(2) </a:t>
            </a:r>
            <a:r>
              <a:rPr sz="1700" b="0" i="0">
                <a:solidFill>
                  <a:srgbClr val="2A2A2A"/>
                </a:solidFill>
                <a:latin typeface="Yu Gothic"/>
              </a:rPr>
              <a:t>単なる事故マップではなく、AIによる危険度“予測”と実データを重ねて比較できる。まだ事故が記録されていない場所の潜在リスクも地図画像パターンの学習によって補完</a:t>
            </a:r>
          </a:p>
          <a:p>
            <a:pPr>
              <a:lnSpc>
                <a:spcPct val="118000"/>
              </a:lnSpc>
              <a:spcAft>
                <a:spcPts val="1000"/>
              </a:spcAft>
            </a:pPr>
            <a:r>
              <a:rPr sz="1700" b="1" i="0">
                <a:solidFill>
                  <a:srgbClr val="E85D3A"/>
                </a:solidFill>
                <a:latin typeface="Yu Gothic"/>
              </a:rPr>
              <a:t>(3) </a:t>
            </a:r>
            <a:r>
              <a:rPr sz="1700" b="0" i="0">
                <a:solidFill>
                  <a:srgbClr val="2A2A2A"/>
                </a:solidFill>
                <a:latin typeface="Yu Gothic"/>
              </a:rPr>
              <a:t>判断根拠を「事実」で示す設計。信号の有無・横断歩道の種類・道路の見通し(PLATEAU実測値)など、誰でも現地で確認できる実データに基づいて生成する</a:t>
            </a:r>
          </a:p>
          <a:p>
            <a:pPr>
              <a:lnSpc>
                <a:spcPct val="118000"/>
              </a:lnSpc>
              <a:spcAft>
                <a:spcPts val="1000"/>
              </a:spcAft>
            </a:pPr>
            <a:r>
              <a:rPr sz="1700" b="1" i="0">
                <a:solidFill>
                  <a:srgbClr val="E85D3A"/>
                </a:solidFill>
                <a:latin typeface="Yu Gothic"/>
              </a:rPr>
              <a:t>(4) </a:t>
            </a:r>
            <a:r>
              <a:rPr sz="1700" b="0" i="0">
                <a:solidFill>
                  <a:srgbClr val="2A2A2A"/>
                </a:solidFill>
                <a:latin typeface="Yu Gothic"/>
              </a:rPr>
              <a:t>評価に学術的な誠実さ: 事前登録方式・複数シードでの再現性確認・bootstrap法による統計的検証</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8</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学習データの作成規模(1/2)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000" b="1" i="0">
                <a:solidFill>
                  <a:srgbClr val="E85D3A"/>
                </a:solidFill>
                <a:latin typeface="Yu Gothic"/>
              </a:rPr>
              <a:t>● </a:t>
            </a:r>
            <a:r>
              <a:rPr sz="2000" b="0" i="0">
                <a:solidFill>
                  <a:srgbClr val="2A2A2A"/>
                </a:solidFill>
                <a:latin typeface="Yu Gothic"/>
              </a:rPr>
              <a:t>事故データ: 警察庁オープンデータから東京都内の歩行者事故を抽出、2019年〜2024年の約6年分・29,284件</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学習・評価用地図画像: 500mメッシュで空間ブロック分割(隣接セルの情報漏洩を防ぐ設計)し、学習3,803セル・評価896セルを地理院タイルから1枚ずつ生成。学習セットはデータ拡張(回転・反転・明暗ジッター)で15,212枚まで拡張</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8</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学習データの作成規模(2/2)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000" b="1" i="0">
                <a:solidFill>
                  <a:srgbClr val="E85D3A"/>
                </a:solidFill>
                <a:latin typeface="Yu Gothic"/>
              </a:rPr>
              <a:t>● </a:t>
            </a:r>
            <a:r>
              <a:rPr sz="2000" b="0" i="0">
                <a:solidFill>
                  <a:srgbClr val="2A2A2A"/>
                </a:solidFill>
                <a:latin typeface="Yu Gothic"/>
              </a:rPr>
              <a:t>位置情報の整備: 国土数値情報から都内駅データ・行政区域データを整備し、最寄り駅距離の算出・都境界の判定に利用</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見通し(視界)データ: PLATEAU(3D都市モデル)から23区内1,917セル分の交差点見通しを実際の建物形状データから算出</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地図画像の取得はレート制限(0.5秒/枚)を守った逐次リクエストで行っており、学習用データセット一式の生成だけで数時間規模の作業時間を要した</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9</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開発における試行錯誤(1/2)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700" b="1" i="0">
                <a:solidFill>
                  <a:srgbClr val="E85D3A"/>
                </a:solidFill>
                <a:latin typeface="Yu Gothic"/>
              </a:rPr>
              <a:t>● </a:t>
            </a:r>
            <a:r>
              <a:rPr sz="1700" b="0" i="0">
                <a:solidFill>
                  <a:srgbClr val="2A2A2A"/>
                </a:solidFill>
                <a:latin typeface="Yu Gothic"/>
              </a:rPr>
              <a:t>目視評価と実際の学習結果が逆転: 人間の目に情報量が多く見える地図スタイルの方が、CNNの学習には必ずしも有利ではないと実験で判明。複数の候補スタイルで実際に学習・比較し、精度だけでなく複数シード間のばらつき(安定性)も根拠に最終採用スタイルを選び直した</a:t>
            </a:r>
          </a:p>
          <a:p>
            <a:pPr>
              <a:lnSpc>
                <a:spcPct val="118000"/>
              </a:lnSpc>
              <a:spcAft>
                <a:spcPts val="1000"/>
              </a:spcAft>
            </a:pPr>
            <a:r>
              <a:rPr sz="1700" b="1" i="0">
                <a:solidFill>
                  <a:srgbClr val="E85D3A"/>
                </a:solidFill>
                <a:latin typeface="Yu Gothic"/>
              </a:rPr>
              <a:t>● </a:t>
            </a:r>
            <a:r>
              <a:rPr sz="1700" b="0" i="0">
                <a:solidFill>
                  <a:srgbClr val="2A2A2A"/>
                </a:solidFill>
                <a:latin typeface="Yu Gothic"/>
              </a:rPr>
              <a:t>見出し数値の水増しに自ら気づき下方修正: 道路がほとんどない場所を含めた全域評価の数値(残差Spearman0.439)は底上げされていたと判明。都市部に限定して再評価し、より正直な数字(0.28、ペアワイズ一致率71%)を公式の見出し数値として採用した</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9</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開発における試行錯誤(2/2)</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1700" b="1" i="0">
                <a:solidFill>
                  <a:srgbClr val="E85D3A"/>
                </a:solidFill>
                <a:latin typeface="Yu Gothic"/>
              </a:rPr>
              <a:t>● </a:t>
            </a:r>
            <a:r>
              <a:rPr sz="1700" b="0" i="0">
                <a:solidFill>
                  <a:srgbClr val="2A2A2A"/>
                </a:solidFill>
                <a:latin typeface="Yu Gothic"/>
              </a:rPr>
              <a:t>特徴量計算バグの自己発見: 評価用ベースラインの入力(建造物密度の代理指標)が、緑地・水域以外を一律「建造物」に誤分類するバグを目視確認で発見。修正後に評価を再実行し、影響範囲を数値で確認してから最終数値を確定させた</a:t>
            </a:r>
          </a:p>
          <a:p>
            <a:pPr>
              <a:lnSpc>
                <a:spcPct val="118000"/>
              </a:lnSpc>
              <a:spcAft>
                <a:spcPts val="1000"/>
              </a:spcAft>
            </a:pPr>
            <a:r>
              <a:rPr sz="1700" b="1" i="0">
                <a:solidFill>
                  <a:srgbClr val="E85D3A"/>
                </a:solidFill>
                <a:latin typeface="Yu Gothic"/>
              </a:rPr>
              <a:t>● </a:t>
            </a:r>
            <a:r>
              <a:rPr sz="1700" b="0" i="0">
                <a:solidFill>
                  <a:srgbClr val="2A2A2A"/>
                </a:solidFill>
                <a:latin typeface="Yu Gothic"/>
              </a:rPr>
              <a:t>判定基準の後出し変更をしない運用: 「AIモデルが単純なベースラインを上回るか」の判定基準は結果を見る前に固定し、途中で緩めたり変えたりしない</a:t>
            </a:r>
          </a:p>
          <a:p>
            <a:pPr>
              <a:lnSpc>
                <a:spcPct val="118000"/>
              </a:lnSpc>
              <a:spcAft>
                <a:spcPts val="1000"/>
              </a:spcAft>
            </a:pPr>
            <a:r>
              <a:rPr sz="1700" b="1" i="0">
                <a:solidFill>
                  <a:srgbClr val="E85D3A"/>
                </a:solidFill>
                <a:latin typeface="Yu Gothic"/>
              </a:rPr>
              <a:t>● </a:t>
            </a:r>
            <a:r>
              <a:rPr sz="1700" b="0" i="0">
                <a:solidFill>
                  <a:srgbClr val="2A2A2A"/>
                </a:solidFill>
                <a:latin typeface="Yu Gothic"/>
              </a:rPr>
              <a:t>一度出した数値を鵜呑みにせず、追加の目視確認・独立な角度からの再検証を重ねたプロセスの再現性・誠実さも本提案の強み</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10</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今後の展望・拡張性</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000" b="1" i="0">
                <a:solidFill>
                  <a:srgbClr val="E85D3A"/>
                </a:solidFill>
                <a:latin typeface="Yu Gothic"/>
              </a:rPr>
              <a:t>● </a:t>
            </a:r>
            <a:r>
              <a:rPr sz="2000" b="0" i="0">
                <a:solidFill>
                  <a:srgbClr val="2A2A2A"/>
                </a:solidFill>
                <a:latin typeface="Yu Gothic"/>
              </a:rPr>
              <a:t>東京都オープンデータのさらなる活用(教育機関一覧の未対応区への拡大、道路交通センサス等を組み合わせた特徴量追加)</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自治体・学校向けの集計レポート機能(通学路点検・PTA活動での活用)</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地域住民からの「ヒヤリハット」投稿機能によるデータ拡充</a:t>
            </a:r>
          </a:p>
          <a:p>
            <a:pPr>
              <a:lnSpc>
                <a:spcPct val="118000"/>
              </a:lnSpc>
              <a:spcAft>
                <a:spcPts val="1000"/>
              </a:spcAft>
            </a:pPr>
            <a:r>
              <a:rPr sz="2000" b="1" i="0">
                <a:solidFill>
                  <a:srgbClr val="E85D3A"/>
                </a:solidFill>
                <a:latin typeface="Yu Gothic"/>
              </a:rPr>
              <a:t>● </a:t>
            </a:r>
            <a:r>
              <a:rPr sz="2000" b="0" i="0">
                <a:solidFill>
                  <a:srgbClr val="2A2A2A"/>
                </a:solidFill>
                <a:latin typeface="Yu Gothic"/>
              </a:rPr>
              <a:t>23区外(多摩地域)への視界特徴(PLATEAU)適用範囲拡大</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182880"/>
            <a:ext cx="594360" cy="594360"/>
          </a:xfrm>
          <a:prstGeom prst="ellipse">
            <a:avLst/>
          </a:prstGeom>
          <a:solidFill>
            <a:srgbClr val="E85D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Yu Gothic UI"/>
              </a:rPr>
              <a:t>11</a:t>
            </a:r>
          </a:p>
        </p:txBody>
      </p:sp>
      <p:sp>
        <p:nvSpPr>
          <p:cNvPr id="5" name="TextBox 4"/>
          <p:cNvSpPr txBox="1"/>
          <p:nvPr/>
        </p:nvSpPr>
        <p:spPr>
          <a:xfrm>
            <a:off x="1188720" y="164592"/>
            <a:ext cx="10515600" cy="640080"/>
          </a:xfrm>
          <a:prstGeom prst="rect">
            <a:avLst/>
          </a:prstGeom>
          <a:noFill/>
        </p:spPr>
        <p:txBody>
          <a:bodyPr wrap="square" anchor="ctr" lIns="0" rIns="0" tIns="0" bIns="0">
            <a:spAutoFit/>
          </a:bodyPr>
          <a:lstStyle/>
          <a:p>
            <a:r>
              <a:rPr sz="2600" b="1" i="0">
                <a:solidFill>
                  <a:srgbClr val="FFFFFF"/>
                </a:solidFill>
                <a:latin typeface="Yu Gothic UI"/>
              </a:rPr>
              <a:t>チーム体制・役割分担</a:t>
            </a:r>
          </a:p>
        </p:txBody>
      </p:sp>
      <p:sp>
        <p:nvSpPr>
          <p:cNvPr id="6" name="TextBox 5"/>
          <p:cNvSpPr txBox="1"/>
          <p:nvPr/>
        </p:nvSpPr>
        <p:spPr>
          <a:xfrm>
            <a:off x="640080" y="1234440"/>
            <a:ext cx="10881360" cy="5120640"/>
          </a:xfrm>
          <a:prstGeom prst="rect">
            <a:avLst/>
          </a:prstGeom>
          <a:noFill/>
        </p:spPr>
        <p:txBody>
          <a:bodyPr wrap="square" anchor="t" lIns="0" rIns="0" tIns="0" bIns="0">
            <a:spAutoFit/>
          </a:bodyPr>
          <a:lstStyle/>
          <a:p>
            <a:pPr>
              <a:lnSpc>
                <a:spcPct val="118000"/>
              </a:lnSpc>
              <a:spcAft>
                <a:spcPts val="1000"/>
              </a:spcAft>
            </a:pPr>
            <a:r>
              <a:rPr sz="2200" b="1" i="0">
                <a:solidFill>
                  <a:srgbClr val="E85D3A"/>
                </a:solidFill>
                <a:latin typeface="Yu Gothic"/>
              </a:rPr>
              <a:t>● </a:t>
            </a:r>
            <a:r>
              <a:rPr sz="2200" b="0" i="0">
                <a:solidFill>
                  <a:srgbClr val="2A2A2A"/>
                </a:solidFill>
                <a:latin typeface="Yu Gothic"/>
              </a:rPr>
              <a:t>個人参加</a:t>
            </a:r>
          </a:p>
          <a:p>
            <a:pPr>
              <a:lnSpc>
                <a:spcPct val="118000"/>
              </a:lnSpc>
              <a:spcAft>
                <a:spcPts val="1000"/>
              </a:spcAft>
            </a:pPr>
            <a:r>
              <a:rPr sz="2200" b="1" i="0">
                <a:solidFill>
                  <a:srgbClr val="E85D3A"/>
                </a:solidFill>
                <a:latin typeface="Yu Gothic"/>
              </a:rPr>
              <a:t>● </a:t>
            </a:r>
            <a:r>
              <a:rPr sz="2200" b="0" i="0">
                <a:solidFill>
                  <a:srgbClr val="2A2A2A"/>
                </a:solidFill>
                <a:latin typeface="Yu Gothic"/>
              </a:rPr>
              <a:t>企画・データ収集/前処理・機械学習モデルの設計と学習・評価設計・バックエンド・フロントエンド・インフラ(Cloudflare)デプロイまで、一人で一気通貫で開発した</a:t>
            </a:r>
          </a:p>
        </p:txBody>
      </p:sp>
      <p:sp>
        <p:nvSpPr>
          <p:cNvPr id="7" name="TextBox 6"/>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8" name="TextBox 7"/>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548640"/>
          </a:xfrm>
          <a:prstGeom prst="rect">
            <a:avLst/>
          </a:prstGeom>
          <a:noFill/>
        </p:spPr>
        <p:txBody>
          <a:bodyPr wrap="square" anchor="t" lIns="0" rIns="0" tIns="0" bIns="0">
            <a:spAutoFit/>
          </a:bodyPr>
          <a:lstStyle/>
          <a:p>
            <a:r>
              <a:rPr sz="2200" b="1" i="0">
                <a:solidFill>
                  <a:srgbClr val="E85D3A"/>
                </a:solidFill>
                <a:latin typeface="Yu Gothic UI"/>
              </a:rPr>
              <a:t>12. まとめ(一言で)</a:t>
            </a:r>
          </a:p>
        </p:txBody>
      </p:sp>
      <p:sp>
        <p:nvSpPr>
          <p:cNvPr id="4" name="TextBox 3"/>
          <p:cNvSpPr txBox="1"/>
          <p:nvPr/>
        </p:nvSpPr>
        <p:spPr>
          <a:xfrm>
            <a:off x="1188720" y="2286000"/>
            <a:ext cx="9784080" cy="2743200"/>
          </a:xfrm>
          <a:prstGeom prst="rect">
            <a:avLst/>
          </a:prstGeom>
          <a:noFill/>
        </p:spPr>
        <p:txBody>
          <a:bodyPr wrap="square" anchor="ctr" lIns="0" rIns="0" tIns="0" bIns="0">
            <a:spAutoFit/>
          </a:bodyPr>
          <a:lstStyle/>
          <a:p>
            <a:pPr algn="ctr">
              <a:lnSpc>
                <a:spcPct val="135000"/>
              </a:lnSpc>
            </a:pPr>
            <a:r>
              <a:rPr sz="2400" b="1" i="0">
                <a:solidFill>
                  <a:srgbClr val="FFFFFF"/>
                </a:solidFill>
                <a:latin typeface="Yu Gothic UI"/>
              </a:rPr>
              <a:t>「東京都オープンデータ×AIをもとに、データ作成、追加学習を行い、“なんとなく危ない”を“具体的にここが危ない、こう気をつけよう”に変える、親子のための通学路安全サービス」</a:t>
            </a:r>
          </a:p>
        </p:txBody>
      </p:sp>
      <p:sp>
        <p:nvSpPr>
          <p:cNvPr id="5" name="TextBox 4"/>
          <p:cNvSpPr txBox="1"/>
          <p:nvPr/>
        </p:nvSpPr>
        <p:spPr>
          <a:xfrm>
            <a:off x="457200" y="6510528"/>
            <a:ext cx="5486400" cy="274320"/>
          </a:xfrm>
          <a:prstGeom prst="rect">
            <a:avLst/>
          </a:prstGeom>
          <a:noFill/>
        </p:spPr>
        <p:txBody>
          <a:bodyPr wrap="square" anchor="t" lIns="0" rIns="0" tIns="0" bIns="0">
            <a:spAutoFit/>
          </a:bodyPr>
          <a:lstStyle/>
          <a:p>
            <a:r>
              <a:rPr sz="1000" b="0" i="0">
                <a:solidFill>
                  <a:srgbClr val="8A9399"/>
                </a:solidFill>
                <a:latin typeface="Yu Gothic"/>
              </a:rPr>
              <a:t>あんしんつうがくナビ ／ AIあんぜんせんせい</a:t>
            </a:r>
          </a:p>
        </p:txBody>
      </p:sp>
      <p:sp>
        <p:nvSpPr>
          <p:cNvPr id="6" name="TextBox 5"/>
          <p:cNvSpPr txBox="1"/>
          <p:nvPr/>
        </p:nvSpPr>
        <p:spPr>
          <a:xfrm>
            <a:off x="11247120" y="6510528"/>
            <a:ext cx="548640" cy="274320"/>
          </a:xfrm>
          <a:prstGeom prst="rect">
            <a:avLst/>
          </a:prstGeom>
          <a:noFill/>
        </p:spPr>
        <p:txBody>
          <a:bodyPr wrap="square" anchor="t" lIns="0" rIns="0" tIns="0" bIns="0">
            <a:spAutoFit/>
          </a:bodyPr>
          <a:lstStyle/>
          <a:p>
            <a:pPr algn="r"/>
            <a:r>
              <a:rPr sz="1000" b="0" i="0">
                <a:solidFill>
                  <a:srgbClr val="8A9399"/>
                </a:solidFill>
                <a:latin typeface="Yu Gothic"/>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